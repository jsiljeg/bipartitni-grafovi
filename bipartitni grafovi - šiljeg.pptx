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9" r:id="rId5"/>
    <p:sldId id="261" r:id="rId6"/>
    <p:sldId id="262" r:id="rId7"/>
    <p:sldId id="267" r:id="rId8"/>
    <p:sldId id="264" r:id="rId9"/>
    <p:sldId id="268" r:id="rId10"/>
    <p:sldId id="263" r:id="rId11"/>
    <p:sldId id="266" r:id="rId12"/>
  </p:sldIdLst>
  <p:sldSz cx="9144000" cy="6858000" type="screen4x3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r-H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2DA8B8CE-5325-4F7D-884D-2C75730A9C03}" type="datetimeFigureOut">
              <a:rPr lang="hr-HR" smtClean="0"/>
              <a:t>8.1.2014.</a:t>
            </a:fld>
            <a:endParaRPr lang="hr-H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77D66752-3E50-49C1-900E-0E5111AA73AB}" type="slidenum">
              <a:rPr lang="hr-HR" smtClean="0"/>
              <a:t>‹#›</a:t>
            </a:fld>
            <a:endParaRPr lang="hr-H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th.uchicago.edu/~may/VIGRE/VIGRE2007/REUPapers/FINALAPP/Salvatore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eksforgeeks.org/bipartite-graph/" TargetMode="External"/><Relationship Id="rId2" Type="http://schemas.openxmlformats.org/officeDocument/2006/relationships/hyperlink" Target="http://www.math.uchicago.edu/~may/VIGRE/VIGRE2007/REUPapers/FINALAPP/Salvatore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uthorstream.com/Presentation/aSGuest51484-426059-bipartite-graph-education-ppt-powerpoint/" TargetMode="External"/><Relationship Id="rId2" Type="http://schemas.openxmlformats.org/officeDocument/2006/relationships/hyperlink" Target="http://www.geeksforgeeks.org/bipartite-graph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imft.ftn.uns.ac.rs/~ljubo/SSR/M2/Grafovi.pdf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592" y="404664"/>
            <a:ext cx="7680960" cy="2438399"/>
          </a:xfr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hr-HR" dirty="0" smtClean="0"/>
              <a:t>Oblikovanje i analiza algoritama</a:t>
            </a:r>
            <a:br>
              <a:rPr lang="hr-HR" dirty="0" smtClean="0"/>
            </a:br>
            <a:r>
              <a:rPr lang="hr-HR" i="1" dirty="0" smtClean="0"/>
              <a:t>Bipartitni grafovi</a:t>
            </a:r>
            <a:endParaRPr lang="hr-HR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5976" y="4149080"/>
            <a:ext cx="4572000" cy="1368798"/>
          </a:xfrm>
          <a:ln>
            <a:solidFill>
              <a:schemeClr val="accent4">
                <a:lumMod val="75000"/>
              </a:schemeClr>
            </a:solidFill>
          </a:ln>
        </p:spPr>
        <p:txBody>
          <a:bodyPr anchor="b">
            <a:normAutofit/>
          </a:bodyPr>
          <a:lstStyle/>
          <a:p>
            <a:pPr algn="r"/>
            <a:r>
              <a:rPr lang="hr-HR" sz="2800" dirty="0" smtClean="0"/>
              <a:t>Siječanj 2014. god.</a:t>
            </a:r>
            <a:endParaRPr lang="hr-HR" sz="28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95536" y="3212976"/>
            <a:ext cx="4572000" cy="1368798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txBody>
          <a:bodyPr vert="horz" tIns="0" rIns="45720" bIns="0" anchor="b">
            <a:normAutofit fontScale="47500" lnSpcReduction="20000"/>
          </a:bodyPr>
          <a:lstStyle>
            <a:lvl1pPr marL="0" indent="0" algn="r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None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hr-HR" sz="4800" dirty="0" smtClean="0"/>
              <a:t>Jure Šiljeg</a:t>
            </a:r>
          </a:p>
          <a:p>
            <a:pPr algn="l"/>
            <a:r>
              <a:rPr lang="hr-HR" sz="4800" dirty="0" smtClean="0"/>
              <a:t>Prirodoslovno - matematički fakultet, Zagreb</a:t>
            </a:r>
          </a:p>
          <a:p>
            <a:r>
              <a:rPr lang="hr-HR" sz="4800" dirty="0" smtClean="0"/>
              <a:t>       </a:t>
            </a:r>
            <a:endParaRPr lang="hr-HR" sz="4800" dirty="0"/>
          </a:p>
        </p:txBody>
      </p:sp>
    </p:spTree>
    <p:extLst>
      <p:ext uri="{BB962C8B-B14F-4D97-AF65-F5344CB8AC3E}">
        <p14:creationId xmlns:p14="http://schemas.microsoft.com/office/powerpoint/2010/main" val="380912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3528" y="548680"/>
            <a:ext cx="7680960" cy="1066800"/>
          </a:xfrm>
        </p:spPr>
        <p:txBody>
          <a:bodyPr>
            <a:normAutofit/>
          </a:bodyPr>
          <a:lstStyle/>
          <a:p>
            <a:pPr algn="ctr"/>
            <a:r>
              <a:rPr lang="hr-HR" sz="5400" dirty="0" smtClean="0"/>
              <a:t>Zadatak </a:t>
            </a:r>
            <a:endParaRPr lang="hr-HR" sz="5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hr-HR" sz="3200" dirty="0" smtClean="0"/>
          </a:p>
          <a:p>
            <a:pPr marL="457200" indent="-457200">
              <a:buFontTx/>
              <a:buChar char="-"/>
            </a:pPr>
            <a:r>
              <a:rPr lang="hr-HR" sz="3200" dirty="0"/>
              <a:t>Moj zadatak je bio pronaći algoritam koji u linearnoj vremenskoj složenosti odgovara na pitanje je li neki neusmjereni graf bipartitan.</a:t>
            </a:r>
          </a:p>
          <a:p>
            <a:pPr marL="457200" indent="-457200">
              <a:buFontTx/>
              <a:buChar char="-"/>
            </a:pPr>
            <a:r>
              <a:rPr lang="hr-HR" sz="3200" dirty="0" smtClean="0"/>
              <a:t>Ovdje ćemo pod linearnom vremenskom složenosti podrazumijevati linearnost obzirom na sumu broja vrhova - |V| i broja bridova - |E|.</a:t>
            </a:r>
            <a:endParaRPr lang="hr-HR" sz="3200" dirty="0"/>
          </a:p>
        </p:txBody>
      </p:sp>
    </p:spTree>
    <p:extLst>
      <p:ext uri="{BB962C8B-B14F-4D97-AF65-F5344CB8AC3E}">
        <p14:creationId xmlns:p14="http://schemas.microsoft.com/office/powerpoint/2010/main" val="330600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404664"/>
            <a:ext cx="8352928" cy="730250"/>
          </a:xfrm>
        </p:spPr>
        <p:txBody>
          <a:bodyPr>
            <a:noAutofit/>
          </a:bodyPr>
          <a:lstStyle/>
          <a:p>
            <a:pPr algn="ctr"/>
            <a:r>
              <a:rPr lang="hr-HR" sz="5400" b="0" dirty="0" smtClean="0">
                <a:solidFill>
                  <a:schemeClr val="tx1"/>
                </a:solidFill>
              </a:rPr>
              <a:t>Uvod (1)</a:t>
            </a:r>
            <a:endParaRPr lang="hr-HR" sz="5400" b="0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52426" y="1463040"/>
            <a:ext cx="3381375" cy="4054192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hr-HR" sz="1800" dirty="0"/>
              <a:t>Za početak, što je to </a:t>
            </a:r>
            <a:r>
              <a:rPr lang="hr-HR" sz="1800" dirty="0" smtClean="0"/>
              <a:t>bipartitni </a:t>
            </a:r>
            <a:r>
              <a:rPr lang="hr-HR" sz="1800" dirty="0"/>
              <a:t>graf ?</a:t>
            </a:r>
          </a:p>
          <a:p>
            <a:pPr marL="285750" indent="-285750">
              <a:buFontTx/>
              <a:buChar char="-"/>
            </a:pPr>
            <a:r>
              <a:rPr lang="hr-HR" sz="1800" dirty="0" smtClean="0">
                <a:solidFill>
                  <a:srgbClr val="FFC000"/>
                </a:solidFill>
              </a:rPr>
              <a:t>Bipartitni</a:t>
            </a:r>
            <a:r>
              <a:rPr lang="hr-HR" sz="1800" dirty="0" smtClean="0"/>
              <a:t> graf </a:t>
            </a:r>
            <a:r>
              <a:rPr lang="hr-HR" sz="1800" dirty="0"/>
              <a:t>(odnosno bigraf) je uredena trojka G = (U, V, E) takva da je U ∩ V = ∅, gde je U ∪ V skup </a:t>
            </a:r>
            <a:r>
              <a:rPr lang="hr-HR" sz="1800" dirty="0" smtClean="0"/>
              <a:t>vrhova pri </a:t>
            </a:r>
            <a:r>
              <a:rPr lang="hr-HR" sz="1800" dirty="0"/>
              <a:t>čemu je  U ≠ ∅ i V ≠ ∅, i gde je E ⊆ { {u,v} | u ∈ U ∧ v ∈ V} je skup bridova.</a:t>
            </a:r>
          </a:p>
          <a:p>
            <a:endParaRPr lang="hr-HR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1988840"/>
            <a:ext cx="4163006" cy="3591426"/>
          </a:xfrm>
        </p:spPr>
      </p:pic>
    </p:spTree>
    <p:extLst>
      <p:ext uri="{BB962C8B-B14F-4D97-AF65-F5344CB8AC3E}">
        <p14:creationId xmlns:p14="http://schemas.microsoft.com/office/powerpoint/2010/main" val="199477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5400" dirty="0" smtClean="0"/>
              <a:t>Uvod (2)</a:t>
            </a:r>
            <a:endParaRPr lang="hr-HR" sz="5400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23528" y="1124744"/>
            <a:ext cx="7680960" cy="5566360"/>
          </a:xfrm>
        </p:spPr>
        <p:txBody>
          <a:bodyPr>
            <a:noAutofit/>
          </a:bodyPr>
          <a:lstStyle/>
          <a:p>
            <a:r>
              <a:rPr lang="hr-HR" sz="2000" dirty="0" smtClean="0"/>
              <a:t>- Za rješavanje zadatka koristit ću  karakterizaciju bipartitnih grafova koja kaže sljedeće :</a:t>
            </a:r>
          </a:p>
          <a:p>
            <a:pPr algn="ctr"/>
            <a:r>
              <a:rPr lang="hr-HR" sz="2000" u="sng" dirty="0" smtClean="0">
                <a:solidFill>
                  <a:srgbClr val="FFC000"/>
                </a:solidFill>
              </a:rPr>
              <a:t>Neusmjereni graf G je bipartitan ako i samo ako može biti obojen sa dvije boje.</a:t>
            </a:r>
            <a:r>
              <a:rPr lang="hr-HR" sz="2000" baseline="30000" dirty="0" smtClean="0"/>
              <a:t>1</a:t>
            </a:r>
            <a:endParaRPr lang="hr-HR" sz="2000" dirty="0" smtClean="0">
              <a:solidFill>
                <a:srgbClr val="FFC000"/>
              </a:solidFill>
            </a:endParaRPr>
          </a:p>
          <a:p>
            <a:pPr marL="285750" indent="-285750">
              <a:buFontTx/>
              <a:buChar char="-"/>
            </a:pPr>
            <a:r>
              <a:rPr lang="hr-HR" sz="2000" dirty="0" smtClean="0"/>
              <a:t>Ovdje, dakle, trebam uzeti dvije različite boje B1 i B2 te bojiti vrhove grafova na sljedeći način : </a:t>
            </a:r>
          </a:p>
          <a:p>
            <a:r>
              <a:rPr lang="hr-HR" sz="2000" dirty="0" smtClean="0"/>
              <a:t>	Proizvoljno </a:t>
            </a:r>
            <a:r>
              <a:rPr lang="hr-HR" sz="2000" dirty="0"/>
              <a:t>odaberemo neki vrh u grafu i </a:t>
            </a:r>
            <a:r>
              <a:rPr lang="hr-HR" sz="2000" dirty="0" smtClean="0"/>
              <a:t>obojimo </a:t>
            </a:r>
            <a:r>
              <a:rPr lang="hr-HR" sz="2000" dirty="0"/>
              <a:t>ga s </a:t>
            </a:r>
            <a:r>
              <a:rPr lang="hr-HR" sz="2000" dirty="0" smtClean="0"/>
              <a:t>	jednom </a:t>
            </a:r>
            <a:r>
              <a:rPr lang="hr-HR" sz="2000" dirty="0"/>
              <a:t>od </a:t>
            </a:r>
            <a:r>
              <a:rPr lang="hr-HR" sz="2000" dirty="0" smtClean="0"/>
              <a:t>boja</a:t>
            </a:r>
            <a:r>
              <a:rPr lang="hr-HR" sz="2000" dirty="0"/>
              <a:t>, </a:t>
            </a:r>
            <a:r>
              <a:rPr lang="hr-HR" sz="2000" dirty="0" smtClean="0"/>
              <a:t>npr. </a:t>
            </a:r>
            <a:r>
              <a:rPr lang="hr-HR" sz="2000" dirty="0"/>
              <a:t>s</a:t>
            </a:r>
            <a:r>
              <a:rPr lang="hr-HR" sz="2000" dirty="0" smtClean="0"/>
              <a:t> B1</a:t>
            </a:r>
            <a:r>
              <a:rPr lang="hr-HR" sz="2000" dirty="0"/>
              <a:t>. Zatim sve njegove susjede </a:t>
            </a:r>
            <a:r>
              <a:rPr lang="hr-HR" sz="2000" dirty="0" smtClean="0"/>
              <a:t>	obojimo </a:t>
            </a:r>
            <a:r>
              <a:rPr lang="hr-HR" sz="2000" dirty="0"/>
              <a:t>s </a:t>
            </a:r>
            <a:r>
              <a:rPr lang="hr-HR" sz="2000" dirty="0" smtClean="0"/>
              <a:t>B2. Nastavljamo bojiti </a:t>
            </a:r>
            <a:r>
              <a:rPr lang="hr-HR" sz="2000" dirty="0"/>
              <a:t>vrhove tako da sve </a:t>
            </a:r>
            <a:r>
              <a:rPr lang="hr-HR" sz="2000" dirty="0" smtClean="0"/>
              <a:t>	susjede već obojenog </a:t>
            </a:r>
            <a:r>
              <a:rPr lang="hr-HR" sz="2000" dirty="0"/>
              <a:t>vrha </a:t>
            </a:r>
            <a:r>
              <a:rPr lang="hr-HR" sz="2000" dirty="0" smtClean="0"/>
              <a:t>bojimo suprotnom </a:t>
            </a:r>
            <a:r>
              <a:rPr lang="hr-HR" sz="2000" dirty="0"/>
              <a:t>bojom. Ako </a:t>
            </a:r>
            <a:r>
              <a:rPr lang="hr-HR" sz="2000" dirty="0" smtClean="0"/>
              <a:t>	uspijemo obojiti </a:t>
            </a:r>
            <a:r>
              <a:rPr lang="hr-HR" sz="2000" dirty="0"/>
              <a:t>graf na </a:t>
            </a:r>
            <a:r>
              <a:rPr lang="hr-HR" sz="2000" dirty="0" smtClean="0"/>
              <a:t>način da ne postoji </a:t>
            </a:r>
            <a:r>
              <a:rPr lang="hr-HR" sz="2000" dirty="0"/>
              <a:t>niti jedan par </a:t>
            </a:r>
            <a:r>
              <a:rPr lang="hr-HR" sz="2000" dirty="0" smtClean="0"/>
              <a:t>	susjednih vrhova </a:t>
            </a:r>
            <a:r>
              <a:rPr lang="hr-HR" sz="2000" dirty="0"/>
              <a:t>koji su </a:t>
            </a:r>
            <a:r>
              <a:rPr lang="hr-HR" sz="2000" dirty="0" smtClean="0"/>
              <a:t>obojeni </a:t>
            </a:r>
            <a:r>
              <a:rPr lang="hr-HR" sz="2000" dirty="0"/>
              <a:t>istom </a:t>
            </a:r>
            <a:r>
              <a:rPr lang="hr-HR" sz="2000" dirty="0" smtClean="0"/>
              <a:t>bojom, 	zaključujemo </a:t>
            </a:r>
            <a:r>
              <a:rPr lang="hr-HR" sz="2000" dirty="0"/>
              <a:t>da </a:t>
            </a:r>
            <a:r>
              <a:rPr lang="hr-HR" sz="2000" b="1" u="sng" dirty="0"/>
              <a:t>je</a:t>
            </a:r>
            <a:r>
              <a:rPr lang="hr-HR" sz="2000" dirty="0"/>
              <a:t> graf </a:t>
            </a:r>
            <a:r>
              <a:rPr lang="hr-HR" sz="2000" dirty="0" smtClean="0"/>
              <a:t>bipartitan, a particija </a:t>
            </a:r>
            <a:r>
              <a:rPr lang="hr-HR" sz="2000" dirty="0"/>
              <a:t>se sastoji od </a:t>
            </a:r>
            <a:r>
              <a:rPr lang="hr-HR" sz="2000" dirty="0" smtClean="0"/>
              <a:t>	skupova </a:t>
            </a:r>
            <a:r>
              <a:rPr lang="hr-HR" sz="2000" dirty="0"/>
              <a:t>X i Y </a:t>
            </a:r>
            <a:r>
              <a:rPr lang="hr-HR" sz="2000" dirty="0" smtClean="0"/>
              <a:t>takvih </a:t>
            </a:r>
            <a:r>
              <a:rPr lang="hr-HR" sz="2000" dirty="0"/>
              <a:t>da </a:t>
            </a:r>
            <a:r>
              <a:rPr lang="hr-HR" sz="2000" dirty="0" smtClean="0"/>
              <a:t>	unutar </a:t>
            </a:r>
            <a:r>
              <a:rPr lang="hr-HR" sz="2000" dirty="0"/>
              <a:t>svakog skupa </a:t>
            </a:r>
            <a:r>
              <a:rPr lang="hr-HR" sz="2000" dirty="0" smtClean="0"/>
              <a:t>imamo 	vrhove </a:t>
            </a:r>
            <a:r>
              <a:rPr lang="hr-HR" sz="2000" dirty="0"/>
              <a:t>iste </a:t>
            </a:r>
            <a:r>
              <a:rPr lang="hr-HR" sz="2000" dirty="0" smtClean="0"/>
              <a:t>boje. U suprotnom graf </a:t>
            </a:r>
            <a:r>
              <a:rPr lang="hr-HR" sz="2000" b="1" u="sng" dirty="0"/>
              <a:t>nije</a:t>
            </a:r>
            <a:r>
              <a:rPr lang="hr-HR" sz="2000" b="1" dirty="0"/>
              <a:t> </a:t>
            </a:r>
            <a:r>
              <a:rPr lang="hr-HR" sz="2000" dirty="0" smtClean="0"/>
              <a:t>bipartitan!</a:t>
            </a:r>
            <a:endParaRPr lang="hr-HR" sz="2000" dirty="0" smtClean="0"/>
          </a:p>
          <a:p>
            <a:pPr marL="36576" indent="0">
              <a:buNone/>
            </a:pPr>
            <a:r>
              <a:rPr lang="hr-HR" sz="1400" dirty="0" smtClean="0"/>
              <a:t>_____________</a:t>
            </a:r>
          </a:p>
          <a:p>
            <a:pPr marL="36576" indent="0">
              <a:buNone/>
            </a:pPr>
            <a:r>
              <a:rPr lang="hr-HR" sz="1400" dirty="0" smtClean="0"/>
              <a:t>1. Za dokaz tvrdnje pogledati sljedeći link : </a:t>
            </a:r>
            <a:r>
              <a:rPr lang="hr-HR" sz="1400" dirty="0">
                <a:hlinkClick r:id="rId2"/>
              </a:rPr>
              <a:t>http://www.math.uchicago.edu/~may/VIGRE/VIGRE2007/REUPapers/FINALAPP/Salvatore.pdf</a:t>
            </a:r>
            <a:endParaRPr lang="hr-HR" sz="1400" dirty="0"/>
          </a:p>
          <a:p>
            <a:pPr marL="36576" indent="0">
              <a:buNone/>
            </a:pPr>
            <a:endParaRPr lang="hr-HR" sz="1400" dirty="0"/>
          </a:p>
          <a:p>
            <a:endParaRPr lang="hr-HR" sz="2000" dirty="0"/>
          </a:p>
        </p:txBody>
      </p:sp>
    </p:spTree>
    <p:extLst>
      <p:ext uri="{BB962C8B-B14F-4D97-AF65-F5344CB8AC3E}">
        <p14:creationId xmlns:p14="http://schemas.microsoft.com/office/powerpoint/2010/main" val="291621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5400" dirty="0" smtClean="0"/>
              <a:t>Rješenje (1)</a:t>
            </a:r>
            <a:endParaRPr lang="hr-HR" sz="5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340768"/>
            <a:ext cx="7467600" cy="5616624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Tx/>
              <a:buChar char="-"/>
            </a:pPr>
            <a:r>
              <a:rPr lang="hr-HR" sz="2400" dirty="0" smtClean="0"/>
              <a:t>Zadatak možemo riješiti na više načina. Pokazat ću kako se može uraditi koristeći BFS i implementirati graf tako što će u 2D polju za svaki vrh pisati s kojim vrhom je incidentan (bez ponovnog zapisivanja incidentnih vrhova u slučaju da su 2 vrha povezana međusobno s više od jednog brida). Možemo reći da se radi o popisu susjedstva (</a:t>
            </a:r>
            <a:r>
              <a:rPr lang="hr-HR" sz="2400" i="1" dirty="0" err="1" smtClean="0"/>
              <a:t>adjacency</a:t>
            </a:r>
            <a:r>
              <a:rPr lang="hr-HR" sz="2400" i="1" dirty="0" smtClean="0"/>
              <a:t> list</a:t>
            </a:r>
            <a:r>
              <a:rPr lang="hr-HR" sz="2400" dirty="0" smtClean="0"/>
              <a:t>). </a:t>
            </a:r>
          </a:p>
          <a:p>
            <a:pPr marL="285750" indent="-285750">
              <a:buFontTx/>
              <a:buChar char="-"/>
            </a:pPr>
            <a:r>
              <a:rPr lang="hr-HR" sz="2400" dirty="0" smtClean="0"/>
              <a:t>Alternativno, može se koristiti i DFS</a:t>
            </a:r>
            <a:r>
              <a:rPr lang="hr-HR" sz="2000" baseline="30000" dirty="0" smtClean="0"/>
              <a:t>2</a:t>
            </a:r>
            <a:r>
              <a:rPr lang="hr-HR" sz="2400" dirty="0" smtClean="0"/>
              <a:t> </a:t>
            </a:r>
            <a:r>
              <a:rPr lang="hr-HR" sz="2400" dirty="0" smtClean="0"/>
              <a:t>(bila </a:t>
            </a:r>
            <a:r>
              <a:rPr lang="hr-HR" sz="2400" dirty="0" smtClean="0"/>
              <a:t>bi ista </a:t>
            </a:r>
            <a:r>
              <a:rPr lang="hr-HR" sz="2400" dirty="0" smtClean="0"/>
              <a:t>složenost), </a:t>
            </a:r>
            <a:r>
              <a:rPr lang="hr-HR" sz="2400" dirty="0" smtClean="0"/>
              <a:t>a može se i implementirati rješenje tako da graf izgleda kao matrica susjedstva (</a:t>
            </a:r>
            <a:r>
              <a:rPr lang="hr-HR" sz="2400" i="1" dirty="0" smtClean="0"/>
              <a:t>adjacency matrix</a:t>
            </a:r>
            <a:r>
              <a:rPr lang="hr-HR" sz="2400" dirty="0" smtClean="0"/>
              <a:t>) koja na koordinati (X,Y) ima 1 ukoliko su vrhovi X i Y incidentni, 0 inače. Također, valja uzeti u obzir da je ovo posljednje rješenje također linearne složenosti, ali je nešto lošije od </a:t>
            </a:r>
            <a:r>
              <a:rPr lang="hr-HR" sz="2400" dirty="0" err="1" smtClean="0"/>
              <a:t>prvonavedenog</a:t>
            </a:r>
            <a:r>
              <a:rPr lang="hr-HR" sz="2400" dirty="0" smtClean="0"/>
              <a:t> (čisto iz razloga što provjeravamo cijelu matricu susjedstva, a ne samo ona mjesta gdje je (X,Y) = 1). </a:t>
            </a:r>
          </a:p>
          <a:p>
            <a:pPr marL="285750" indent="-285750">
              <a:buFontTx/>
              <a:buChar char="-"/>
            </a:pPr>
            <a:r>
              <a:rPr lang="hr-HR" sz="2400" dirty="0" smtClean="0"/>
              <a:t>Ovakve dvije implementacije su ujedno i najčešće korištene za zapisivanje grafa.</a:t>
            </a:r>
          </a:p>
          <a:p>
            <a:pPr marL="0" indent="0">
              <a:buNone/>
            </a:pPr>
            <a:r>
              <a:rPr lang="hr-HR" sz="1600" dirty="0" smtClean="0"/>
              <a:t>_____________</a:t>
            </a:r>
          </a:p>
          <a:p>
            <a:pPr marL="0" indent="0">
              <a:buNone/>
            </a:pPr>
            <a:r>
              <a:rPr lang="hr-HR" sz="1500" dirty="0" smtClean="0"/>
              <a:t>2. Za više informacija o pseudokodu implementacije rješenja DFS-om pogledati sljedeće linkove :</a:t>
            </a:r>
          </a:p>
          <a:p>
            <a:pPr marL="0" indent="0">
              <a:buNone/>
            </a:pPr>
            <a:r>
              <a:rPr lang="hr-HR" sz="1600" dirty="0">
                <a:hlinkClick r:id="rId2"/>
              </a:rPr>
              <a:t>http://www.math.uchicago.edu/~</a:t>
            </a:r>
            <a:r>
              <a:rPr lang="hr-HR" sz="1600" dirty="0" smtClean="0">
                <a:hlinkClick r:id="rId2"/>
              </a:rPr>
              <a:t>may/VIGRE/VIGRE2007/REUPapers/FINALAPP/Salvatore.pdf</a:t>
            </a:r>
            <a:r>
              <a:rPr lang="hr-HR" sz="1600" dirty="0" smtClean="0"/>
              <a:t>  </a:t>
            </a:r>
          </a:p>
          <a:p>
            <a:pPr marL="0" indent="0">
              <a:buNone/>
            </a:pPr>
            <a:r>
              <a:rPr lang="hr-HR" sz="1600" dirty="0" smtClean="0"/>
              <a:t>, a sami kod se može pronaći ovdje (implementacija u jeziku C++) :</a:t>
            </a:r>
          </a:p>
          <a:p>
            <a:pPr marL="0" indent="0">
              <a:buNone/>
            </a:pPr>
            <a:r>
              <a:rPr lang="hr-HR" sz="1200" dirty="0">
                <a:hlinkClick r:id="rId3"/>
              </a:rPr>
              <a:t>http://www.geeksforgeeks.org/bipartite-graph/#</a:t>
            </a:r>
            <a:r>
              <a:rPr lang="hr-HR" sz="1200" dirty="0" smtClean="0">
                <a:hlinkClick r:id="rId3"/>
              </a:rPr>
              <a:t>dsq-author-user-21015</a:t>
            </a:r>
            <a:r>
              <a:rPr lang="hr-HR" sz="1200" dirty="0" smtClean="0"/>
              <a:t> </a:t>
            </a:r>
            <a:endParaRPr lang="hr-HR" sz="1600" dirty="0"/>
          </a:p>
        </p:txBody>
      </p:sp>
    </p:spTree>
    <p:extLst>
      <p:ext uri="{BB962C8B-B14F-4D97-AF65-F5344CB8AC3E}">
        <p14:creationId xmlns:p14="http://schemas.microsoft.com/office/powerpoint/2010/main" val="341012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5400" dirty="0" smtClean="0"/>
              <a:t>Rješenje (2)</a:t>
            </a:r>
            <a:endParaRPr lang="hr-HR" sz="5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7467600" cy="5141168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Tx/>
              <a:buChar char="-"/>
            </a:pPr>
            <a:r>
              <a:rPr lang="hr-HR" sz="2400" dirty="0" smtClean="0"/>
              <a:t>Općenita karakteristika cijelog grafa jest ta što je svako mjesto ispunjeno s -1 (osim onih gdje su 2 vrha incidentna).</a:t>
            </a:r>
          </a:p>
          <a:p>
            <a:pPr marL="285750" indent="-285750">
              <a:buFontTx/>
              <a:buChar char="-"/>
            </a:pPr>
            <a:r>
              <a:rPr lang="hr-HR" sz="2400" dirty="0" smtClean="0"/>
              <a:t>Sam proces bojenja vrhova se odvija kao što sam opisao u uvodu i za to nam služi red (</a:t>
            </a:r>
            <a:r>
              <a:rPr lang="hr-HR" sz="2400" i="1" dirty="0" err="1" smtClean="0"/>
              <a:t>queue</a:t>
            </a:r>
            <a:r>
              <a:rPr lang="hr-HR" sz="2400" dirty="0" smtClean="0"/>
              <a:t>) u kojeg ćemo „gurati” netom obojene vrhove (primijetiti valja kako kroz red prođu svi vrhovi i to najviše jedan put – točno nakon što ga obojimo odgovarajućom bojom).</a:t>
            </a:r>
          </a:p>
          <a:p>
            <a:pPr marL="285750" indent="-285750">
              <a:buFontTx/>
              <a:buChar char="-"/>
            </a:pPr>
            <a:r>
              <a:rPr lang="hr-HR" sz="2400" dirty="0" smtClean="0"/>
              <a:t>Provjeravamo također i jesu li 2 incidentna vrha slučajno obojena istom bojom, pa ako jesu, znamo da je potrazi došao kraj – naš graf nije bipartitan.</a:t>
            </a:r>
          </a:p>
          <a:p>
            <a:pPr marL="285750" indent="-285750">
              <a:buFontTx/>
              <a:buChar char="-"/>
            </a:pPr>
            <a:r>
              <a:rPr lang="hr-HR" sz="2400" dirty="0" smtClean="0"/>
              <a:t>Složenost ovog algoritma jest O(|V| + |E|). Preciznije, svaki brid ćemo gledati 2 puta, ali to ne narušava ponuđenu složenost (implementacija je takva da se, u slučaju kad su A i B incidentni vrhovi npr., gledaju i AB i BA).</a:t>
            </a:r>
          </a:p>
          <a:p>
            <a:pPr marL="285750" indent="-285750">
              <a:buFontTx/>
              <a:buChar char="-"/>
            </a:pPr>
            <a:endParaRPr lang="hr-HR" sz="2400" dirty="0" smtClean="0"/>
          </a:p>
          <a:p>
            <a:pPr marL="285750" indent="-285750">
              <a:buFontTx/>
              <a:buChar char="-"/>
            </a:pP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235119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5400" dirty="0" smtClean="0"/>
              <a:t>Rješenje (3)</a:t>
            </a:r>
            <a:endParaRPr lang="hr-HR" sz="5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7467600" cy="5141168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endParaRPr lang="hr-HR" sz="2400" dirty="0" smtClean="0"/>
          </a:p>
          <a:p>
            <a:pPr marL="285750" indent="-285750">
              <a:buFontTx/>
              <a:buChar char="-"/>
            </a:pPr>
            <a:endParaRPr lang="hr-HR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601936"/>
            <a:ext cx="8855207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24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5400" dirty="0" smtClean="0"/>
              <a:t>Rješenje (4)</a:t>
            </a:r>
            <a:endParaRPr lang="hr-HR" sz="5400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79512" y="1600200"/>
            <a:ext cx="5184576" cy="452596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hr-HR" sz="2400" i="1" dirty="0" smtClean="0"/>
              <a:t>Ilustracija stanje reda</a:t>
            </a:r>
          </a:p>
          <a:p>
            <a:pPr marL="0" indent="0">
              <a:buNone/>
            </a:pPr>
            <a:r>
              <a:rPr lang="hr-HR" sz="2400" i="1" dirty="0" smtClean="0"/>
              <a:t>    </a:t>
            </a:r>
            <a:r>
              <a:rPr lang="hr-HR" sz="2400" i="1" dirty="0" smtClean="0">
                <a:solidFill>
                  <a:srgbClr val="FFFF00"/>
                </a:solidFill>
              </a:rPr>
              <a:t>Q</a:t>
            </a:r>
            <a:r>
              <a:rPr lang="hr-HR" sz="2400" i="1" dirty="0" smtClean="0"/>
              <a:t> 	       i polja 	      </a:t>
            </a:r>
            <a:r>
              <a:rPr lang="hr-HR" sz="2400" i="1" dirty="0" smtClean="0">
                <a:solidFill>
                  <a:srgbClr val="FFFF00"/>
                </a:solidFill>
              </a:rPr>
              <a:t>oboji</a:t>
            </a:r>
            <a:r>
              <a:rPr lang="hr-HR" sz="2400" i="1" dirty="0" smtClean="0"/>
              <a:t> :</a:t>
            </a:r>
          </a:p>
          <a:p>
            <a:pPr marL="0" indent="0">
              <a:buNone/>
            </a:pPr>
            <a:endParaRPr lang="hr-HR" sz="24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hr-HR" sz="2400" dirty="0" smtClean="0"/>
              <a:t>A			[1 -1 -1 -1 -1]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hr-HR" sz="2400" dirty="0" smtClean="0"/>
              <a:t>E D C		[1 -1  0  0  0 ]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hr-HR" sz="2400" dirty="0" smtClean="0"/>
              <a:t>B E D 		[</a:t>
            </a:r>
            <a:r>
              <a:rPr lang="hr-HR" sz="2400" dirty="0"/>
              <a:t>1  </a:t>
            </a:r>
            <a:r>
              <a:rPr lang="hr-HR" sz="2400" dirty="0" smtClean="0"/>
              <a:t>1  0  </a:t>
            </a:r>
            <a:r>
              <a:rPr lang="hr-HR" sz="2400" dirty="0"/>
              <a:t>0  0 </a:t>
            </a:r>
            <a:r>
              <a:rPr lang="hr-HR" sz="2400" dirty="0" smtClean="0"/>
              <a:t>]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hr-HR" sz="2400" dirty="0" smtClean="0"/>
              <a:t>B E 			[</a:t>
            </a:r>
            <a:r>
              <a:rPr lang="hr-HR" sz="2400" dirty="0"/>
              <a:t>1  1  0  0  0 </a:t>
            </a:r>
            <a:r>
              <a:rPr lang="hr-HR" sz="2400" dirty="0" smtClean="0"/>
              <a:t>]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hr-HR" sz="2400" dirty="0" smtClean="0"/>
              <a:t>B			[</a:t>
            </a:r>
            <a:r>
              <a:rPr lang="hr-HR" sz="2400" dirty="0"/>
              <a:t>1  1  0  0  0 ]</a:t>
            </a:r>
            <a:endParaRPr lang="hr-HR" sz="24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hr-HR" sz="2400" dirty="0"/>
              <a:t>__			</a:t>
            </a:r>
            <a:r>
              <a:rPr lang="hr-HR" sz="2400" dirty="0" smtClean="0"/>
              <a:t>[</a:t>
            </a:r>
            <a:r>
              <a:rPr lang="hr-HR" sz="2400" dirty="0"/>
              <a:t>1  1  0  0  0 </a:t>
            </a:r>
            <a:r>
              <a:rPr lang="hr-HR" sz="2400" dirty="0" smtClean="0"/>
              <a:t>]</a:t>
            </a:r>
          </a:p>
          <a:p>
            <a:pPr marL="342900" indent="-342900">
              <a:buFont typeface="Wingdings" pitchFamily="2" charset="2"/>
              <a:buChar char="Ø"/>
            </a:pPr>
            <a:endParaRPr lang="hr-HR" sz="2400" dirty="0"/>
          </a:p>
          <a:p>
            <a:pPr marL="0" indent="0">
              <a:buNone/>
            </a:pPr>
            <a:r>
              <a:rPr lang="hr-HR" sz="2400" dirty="0" smtClean="0"/>
              <a:t>	         </a:t>
            </a:r>
            <a:r>
              <a:rPr lang="hr-HR" sz="4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DA !</a:t>
            </a:r>
          </a:p>
          <a:p>
            <a:pPr marL="342900" indent="-342900">
              <a:buFont typeface="Wingdings" pitchFamily="2" charset="2"/>
              <a:buChar char="Ø"/>
            </a:pPr>
            <a:endParaRPr lang="hr-HR" sz="2400" dirty="0" smtClean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700807"/>
            <a:ext cx="3384376" cy="4104457"/>
          </a:xfrm>
        </p:spPr>
      </p:pic>
    </p:spTree>
    <p:extLst>
      <p:ext uri="{BB962C8B-B14F-4D97-AF65-F5344CB8AC3E}">
        <p14:creationId xmlns:p14="http://schemas.microsoft.com/office/powerpoint/2010/main" val="32345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5400" dirty="0" smtClean="0"/>
              <a:t>Rješenje (5)</a:t>
            </a:r>
            <a:endParaRPr lang="hr-HR" sz="5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186808" cy="5141168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Tx/>
              <a:buChar char="-"/>
            </a:pPr>
            <a:r>
              <a:rPr lang="hr-HR" sz="2400" dirty="0" smtClean="0"/>
              <a:t>Ono što se da primijetiti jest to kako će ponuđeni algoritam raditi ako imamo povezan graf i da to možemo jednostavno poopćiti i na nepovezane. Naime, samo trebamo pozvati funkciju </a:t>
            </a:r>
            <a:r>
              <a:rPr lang="hr-HR" sz="2400" i="1" dirty="0" smtClean="0"/>
              <a:t>bipartitan </a:t>
            </a:r>
            <a:r>
              <a:rPr lang="hr-HR" sz="2400" dirty="0" smtClean="0"/>
              <a:t>nad svim povezanim komponentama grafa čije čvorove nismo kroz red „gurali” i to je sve. Dakle, pozvati funkciju redom nad npr. zelenim dijelom, potom žutim i tako redom dok ih sve ne iscrpimo (putem pamtimo koje komponente i čvorove smo posjećivali već, dakako).</a:t>
            </a:r>
          </a:p>
          <a:p>
            <a:pPr marL="285750" indent="-285750">
              <a:buFontTx/>
              <a:buChar char="-"/>
            </a:pPr>
            <a:endParaRPr lang="hr-HR" sz="2400" dirty="0" smtClean="0"/>
          </a:p>
          <a:p>
            <a:pPr marL="285750" indent="-285750">
              <a:buFontTx/>
              <a:buChar char="-"/>
            </a:pPr>
            <a:endParaRPr lang="hr-HR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916832"/>
            <a:ext cx="4320480" cy="40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55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5400" dirty="0" smtClean="0"/>
              <a:t>Izvori </a:t>
            </a:r>
            <a:endParaRPr lang="hr-HR" sz="5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7467600" cy="51411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r-HR" sz="2400" dirty="0">
              <a:hlinkClick r:id="rId2"/>
            </a:endParaRPr>
          </a:p>
          <a:p>
            <a:pPr marL="0" indent="0">
              <a:buNone/>
            </a:pPr>
            <a:r>
              <a:rPr lang="hr-HR" sz="2400" dirty="0" smtClean="0">
                <a:hlinkClick r:id="rId2"/>
              </a:rPr>
              <a:t>http</a:t>
            </a:r>
            <a:r>
              <a:rPr lang="hr-HR" sz="2400" dirty="0">
                <a:hlinkClick r:id="rId2"/>
              </a:rPr>
              <a:t>://www.geeksforgeeks.org/bipartite-graph</a:t>
            </a:r>
            <a:r>
              <a:rPr lang="hr-HR" sz="2400" dirty="0" smtClean="0">
                <a:hlinkClick r:id="rId2"/>
              </a:rPr>
              <a:t>/</a:t>
            </a:r>
            <a:endParaRPr lang="hr-HR" sz="2400" dirty="0"/>
          </a:p>
          <a:p>
            <a:pPr marL="0" indent="0">
              <a:buNone/>
            </a:pPr>
            <a:endParaRPr lang="hr-HR" sz="2400" dirty="0" smtClean="0">
              <a:hlinkClick r:id="rId3"/>
            </a:endParaRPr>
          </a:p>
          <a:p>
            <a:pPr marL="0" indent="0">
              <a:buNone/>
            </a:pPr>
            <a:r>
              <a:rPr lang="hr-HR" sz="2400" dirty="0">
                <a:hlinkClick r:id="rId4"/>
              </a:rPr>
              <a:t>http://imft.ftn.uns.ac.rs/~ljubo/SSR/M2/Grafovi.pdf</a:t>
            </a:r>
            <a:endParaRPr lang="hr-HR" sz="2400" dirty="0"/>
          </a:p>
          <a:p>
            <a:pPr marL="0" indent="0">
              <a:buNone/>
            </a:pPr>
            <a:endParaRPr lang="hr-HR" sz="2400" dirty="0" smtClean="0"/>
          </a:p>
          <a:p>
            <a:pPr marL="285750" indent="-285750">
              <a:buFontTx/>
              <a:buChar char="-"/>
            </a:pP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47154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7632848" cy="2160240"/>
          </a:xfrm>
        </p:spPr>
        <p:txBody>
          <a:bodyPr>
            <a:normAutofit fontScale="90000"/>
          </a:bodyPr>
          <a:lstStyle/>
          <a:p>
            <a:pPr algn="ctr"/>
            <a:r>
              <a:rPr lang="hr-HR" sz="8000" dirty="0" smtClean="0"/>
              <a:t>Zahvaljujem na pozornosti !</a:t>
            </a:r>
            <a:r>
              <a:rPr lang="hr-HR" sz="5400" dirty="0" smtClean="0"/>
              <a:t> </a:t>
            </a:r>
            <a:endParaRPr lang="hr-HR" sz="5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852936"/>
            <a:ext cx="7467600" cy="388843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r-HR" sz="2400" dirty="0"/>
          </a:p>
          <a:p>
            <a:pPr marL="0" indent="0">
              <a:buNone/>
            </a:pPr>
            <a:endParaRPr lang="hr-HR" sz="2400" dirty="0" smtClean="0"/>
          </a:p>
          <a:p>
            <a:pPr marL="285750" indent="-285750">
              <a:buFontTx/>
              <a:buChar char="-"/>
            </a:pPr>
            <a:endParaRPr lang="hr-HR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2852936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6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4039</TotalTime>
  <Words>686</Words>
  <Application>Microsoft Office PowerPoint</Application>
  <PresentationFormat>On-screen Show (4:3)</PresentationFormat>
  <Paragraphs>55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Technic</vt:lpstr>
      <vt:lpstr>Oblikovanje i analiza algoritama Bipartitni grafovi</vt:lpstr>
      <vt:lpstr>Zadatak </vt:lpstr>
      <vt:lpstr>Uvod (1)</vt:lpstr>
      <vt:lpstr>Uvod (2)</vt:lpstr>
      <vt:lpstr>Rješenje (1)</vt:lpstr>
      <vt:lpstr>Rješenje (2)</vt:lpstr>
      <vt:lpstr>Rješenje (3)</vt:lpstr>
      <vt:lpstr>Rješenje (4)</vt:lpstr>
      <vt:lpstr>Rješenje (5)</vt:lpstr>
      <vt:lpstr>Izvori </vt:lpstr>
      <vt:lpstr>Zahvaljujem na pozornosti 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Bipartitni grafovi</dc:title>
  <dc:creator>jure</dc:creator>
  <cp:lastModifiedBy>jure</cp:lastModifiedBy>
  <cp:revision>62</cp:revision>
  <dcterms:created xsi:type="dcterms:W3CDTF">2013-12-12T01:39:51Z</dcterms:created>
  <dcterms:modified xsi:type="dcterms:W3CDTF">2014-01-08T15:48:00Z</dcterms:modified>
</cp:coreProperties>
</file>